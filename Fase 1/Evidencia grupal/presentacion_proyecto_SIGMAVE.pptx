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5bHHhkQ3aP8oy+bU4fufQphK8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Saludar a la comisión y al docente guía, Jorge Guzmán.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Introducir el proyecto capstone: 'Sistema de Gestión de Mantención para Flota de Vehículos de Emergencia'.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Destacar que el proyecto fue desarrollado específicamente para la Primera Compañía del Cuerpo de Bomberos de Maipú por el equipo integrado por Enzo Toledo, Ramón Ortiz y Patricio Finschi.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Explicar el contexto crítico actual: El Cuerpo de Bomberos de Maipú cuenta con equipos que salvan vidas, pero su mantenimiento es reactivo.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Detallar el punto 1 (Reporte Informal): WhatsApp y la comunicación verbal son el canal actual. Esto causa demoras y pérdidas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Explicar el punto 2 (Trazabilidad): Sin historial inmutable, es imposible conocer el 'ciclo de vida' del carro ni controlar los gastos reales.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Enfatizar el punto 3 (Riesgo): Un carro inoperativo en el despacho compromete directamente el éxito de la emergencia.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Conectar la problemática con la oportunidad de mejora. La disponibilidad debe ser preventiva, no solo reactiva.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Leer el Objetivo General con seguridad: se busca centralizar el control y seguimiento a través de una aplicación web responsive para dispositivos móviles.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Destacar que la aplicación responde a la realidad de los bomberos en terreno, quienes usan celulares, por lo que el diseño responsive es mandatorio.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Desglosar los tres objetivos específicos fundamentales.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Primer pilar: Reducción de costos. Un mantenimiento preventivo cuesta una fracción de lo que cuesta un motor fundido.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Segundo pilar: Formalizar el circuito. Reemplazar los flujos informales por un canal auditable por oficiales.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Tercer pilar: Apoyar a los voluntarios. El bombero voluntario debe concentrarse en la emergencia, la app le quita la carga administrativa.</a:t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Explicar el contraste entre el proceso manual original (Flujo 1) y el proceso digitalizado (Flujo 2).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En el Flujo 1, destacar cómo los reportes informales generaban cuellos de botella e incertidumbre en la disponibilidad del carro.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En el Flujo 2, resaltar el rol automatizado del Sistema (SIMAVI) al registrar la falla, notificar inmediatamente al Teniente tercero y actualizar el estado de flota en tiempo real.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Enfatizar la integración del taller mecánico externo para el registro formal de fechas e informes de trabajo.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Explicar cómo funciona la solución propuesta. Es un sistema integral web/móvil.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Hablar de la consulta en tiempo real: desde el cuartel o en ruta, se sabe el estado exacto de cada carro.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Destacar las alertas y notificaciones preventivas automáticas, que avisan de mantenciones próximas o vencidas.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Enfatizar la trazabilidad completa del ciclo de vida del vehículo, lo cual representa el activo de mayor valor.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Describir la arquitectura funcional del sistema dividida en 6 módulos principales.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Detallar que cubrimos todo el circuito: desde la identificación (Ficha) y operación (Mantenimiento, Alertas y Consulta) hasta la parte administrativa (Costos e inversión y Control de usuarios por perfiles).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Explicar las limitaciones para fijar expectativas realistas ante la comisión.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Dejar en claro que no se gestiona el personal ni se reemplaza la contabilidad de la institución.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Destacar que el sistema actual de despacho (Viper) sigue funcionando de manera independiente y que el sistema se enfoca única y exclusivamente en los vehículos de emergencia.</a:t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Presentar la base de datos PostgreSQL, diseñada para asegurar consistencia e inmutabilidad en las auditorías de mantenimiento.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Explicar la tabla central 'vehiculo' y su relación directa con las órdenes de 'mantencion' y las 'alerta_recordatorio'.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Explicar cómo la tabla 'usuario' vincula las acciones tanto a bomberos operativos como a los oficiales de flota que autorizan los gastos.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Destacar la tabla auxiliar 'tipo_mantencion' para separar los mantenimientos preventivos de las reparaciones de emergencia.</a:t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Describir la arquitectura técnica moderna del software.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React en el frontend para lograr una UI veloz, interactiva y móvil en terreno.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Node.js y PostgreSQL en el backend para manejar la persistencia e inmutabilidad de los datos históricos.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Vercel como hosting cloud que garantiza alta disponibilidad ante emergencias, Trello para gestión ágil de tareas y GitHub para versionamiento.</a:t>
            </a:r>
            <a:endParaRPr/>
          </a:p>
        </p:txBody>
      </p:sp>
      <p:sp>
        <p:nvSpPr>
          <p:cNvPr id="217" name="Google Shape;21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Demostrar la ingeniería de requisitos del proyecto: se diseñaron y controlaron 17 Historias de Usuario en Trello.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Detallar la HU01 como ejemplo: describe la necesidad de un bombero en terreno de saber al instante la disponibilidad de un carro.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Destacar el criterio técnico de aceptación de mostrar en ROJO los vehículos con fallas activas para una detección rápida.</a:t>
            </a:r>
            <a:endParaRPr/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Presentar con orgullo las evidencias reales de funcionamiento y costos del prototipo.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Explicar los KPIs de estado de flota obtenidos de los dashboards en tiempo real: 3 operativos, 2 en alerta y 1 inoperativo (la unidad SR-1, que venció su mantenimiento hace 38 días).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Explicar que el sistema ya consolida los costos históricos por carro: el total acumulado de inversión en mantenimiento en 2024 es de $4.970.000 CLP, concentrado principalmente en las unidades SR-1 ($1,37M), B-1 ($1,285M) y B-3 ($1,25M).</a:t>
            </a:r>
            <a:endParaRPr/>
          </a:p>
        </p:txBody>
      </p:sp>
      <p:sp>
        <p:nvSpPr>
          <p:cNvPr id="243" name="Google Shape;24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del Orador: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Cerrar con una reflexión potente: El sistema no es solo una base de datos de camiones, es una herramienta clave para asegurar que el carro de rescate o la bomba salgan a tiempo cuando un vecino de Maipú lo necesita. El control de mantenimiento salva vidas.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Agradecer formalmente la atención de la comisión y abrir la ronda de preguntas.</a:t>
            </a:r>
            <a:endParaRPr/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326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PROYECTO CAPSTONE BOMBEROS DE MAIPÚ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F5F6F8"/>
                </a:solidFill>
                <a:latin typeface="Arial"/>
                <a:ea typeface="Arial"/>
                <a:cs typeface="Arial"/>
                <a:sym typeface="Arial"/>
              </a:rPr>
              <a:t>Sistema de </a:t>
            </a:r>
            <a:r>
              <a:rPr b="1" lang="es-CL" sz="3600">
                <a:solidFill>
                  <a:srgbClr val="F5F6F8"/>
                </a:solidFill>
              </a:rPr>
              <a:t>Mantención</a:t>
            </a:r>
            <a:r>
              <a:rPr b="1" i="0" lang="es-CL" sz="3600" u="none" cap="none" strike="noStrike">
                <a:solidFill>
                  <a:srgbClr val="F5F6F8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lang="es-CL" sz="3600">
                <a:solidFill>
                  <a:srgbClr val="F5F6F8"/>
                </a:solidFill>
              </a:rPr>
              <a:t>Gestión</a:t>
            </a:r>
            <a:r>
              <a:rPr b="1" i="0" lang="es-CL" sz="3600" u="none" cap="none" strike="noStrike">
                <a:solidFill>
                  <a:srgbClr val="F5F6F8"/>
                </a:solidFill>
                <a:latin typeface="Arial"/>
                <a:ea typeface="Arial"/>
                <a:cs typeface="Arial"/>
                <a:sym typeface="Arial"/>
              </a:rPr>
              <a:t> Vehicular – SIGMAVE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Solución tecnológica web responsive para centralizar el control y seguimiento operativo de la flota.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F5F6F8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r>
              <a:rPr b="0" i="0" lang="es-CL" sz="1100" u="none" cap="none" strike="noStrike">
                <a:solidFill>
                  <a:srgbClr val="F5F6F8"/>
                </a:solidFill>
                <a:latin typeface="Calibri"/>
                <a:ea typeface="Calibri"/>
                <a:cs typeface="Calibri"/>
                <a:sym typeface="Calibri"/>
              </a:rPr>
              <a:t>Enzo Toledo  •  Ramón Ortiz  •  Patricio Finschi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F5F6F8"/>
                </a:solidFill>
                <a:latin typeface="Calibri"/>
                <a:ea typeface="Calibri"/>
                <a:cs typeface="Calibri"/>
                <a:sym typeface="Calibri"/>
              </a:rPr>
              <a:t>Docente Guía: </a:t>
            </a:r>
            <a:r>
              <a:rPr b="0" i="0" lang="es-CL" sz="1100" u="none" cap="none" strike="noStrike">
                <a:solidFill>
                  <a:srgbClr val="F5F6F8"/>
                </a:solidFill>
                <a:latin typeface="Calibri"/>
                <a:ea typeface="Calibri"/>
                <a:cs typeface="Calibri"/>
                <a:sym typeface="Calibri"/>
              </a:rPr>
              <a:t>Jorge Guzmán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Sección: Capstone 007V  |  Primera Compañía del Cuerpo de Bomberos de Maipú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s-CL" sz="2200" u="none" cap="none" strike="noStrike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La falta de trazabilidad y el reporte informal comprometen la operatividad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900" u="none" cap="none" strike="noStrike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2 de 14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57200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1. Reporte Informal de Fallas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Flujo ineficiente: Los voluntarios reportan de forma informal (mensajería o de palabra).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Vacío de información: Falta un canal estandarizado que asocie la falla al vehículo específico de inmediato.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Lentitud operativa: El circuito informal actual retrasa el escalamiento de fallas a los oficiales a cargo.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352544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2. Vacío de Trazabilidad Histórica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Pérdida de historial: No se consolida el 'Ciclo de vida' de mantención y reparaciones de cada carro.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Descontrol financiero: Alta dificultad para auditar y controlar los gastos asociados a las reparaciones.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Planificación reactiva: Al no haber registro estructurado, la mantención preventiva se vuelve casi imposible.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352544" y="1645920"/>
            <a:ext cx="73152" cy="4389120"/>
          </a:xfrm>
          <a:prstGeom prst="rect">
            <a:avLst/>
          </a:prstGeom>
          <a:solidFill>
            <a:srgbClr val="DC91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247888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3. Riesgo de Disponibilidad Real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Tiempos muertos críticos: Se generan demoras imprevistas antes del despacho debido a desperfectos no detectados.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Riesgo en el llamado: Amenaza la seguridad de los voluntarios y de la comunidad ante fallas de fuerza mayor.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Disponibilidad global: La flota exige disponibilidad de operación constante, no solo fiabilidad mecánica aislada.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247888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PROBLEMÁTICA Y OPORTUNIDAD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La disponibilidad no es solo mecánica: requiere control preventivo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3 de 14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57200" y="1645920"/>
            <a:ext cx="53949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La Problemática Operativa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Fallas mecánicas frecuentes sin aviso previo por falta de una pauta de seguimiento constante del estado.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Tiempos muertos excesivos en los carros de emergencia antes de que se despache la unidad.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Alto riesgo operativo para el personal voluntario de emergencia que depende de la fiabilidad de las unidades.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Pérdida de recursos financieros debido a la imposibilidad de llevar una pauta estructurada de control de gastos.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57200" y="1645920"/>
            <a:ext cx="73152" cy="320040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309360" y="1645920"/>
            <a:ext cx="5394960" cy="3200400"/>
          </a:xfrm>
          <a:prstGeom prst="rect">
            <a:avLst/>
          </a:prstGeom>
          <a:solidFill>
            <a:srgbClr val="F0F6FF"/>
          </a:solidFill>
          <a:ln cap="flat" cmpd="sng" w="12700">
            <a:solidFill>
              <a:srgbClr val="1E6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El Objetivo del Proyecto (Oportunidad)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Desarrollar una solución tecnológica web, con diseño responsive para dispositivos móviles, que permita a los bomberos centralizar el control y seguimiento de la mantención de sus vehículos de emergencia, agilizando el reporte y escalamientos de fallas.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Impacto Esperado: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Pasar de un mantenimiento reactivo e informal a una estrategia preventiva digitalizada.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Centralizar los datos técnicos en una única ficha de ciclo de vida por máquina.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309360" y="1645920"/>
            <a:ext cx="73152" cy="3200400"/>
          </a:xfrm>
          <a:prstGeom prst="rect">
            <a:avLst/>
          </a:prstGeom>
          <a:solidFill>
            <a:srgbClr val="1E6E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5074920"/>
            <a:ext cx="11274552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109725" lIns="228600" spcFirstLastPara="1" rIns="2286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COMPATIBILIDAD MULTI-VEHÍCULO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El sistema centraliza la pauta de mantenimiento para por lo menos 5 tipos de vehículos de la compañía (Unidades de Rescate, Carros Bomba, Carro Químico y Camionetas de transporte), adaptándose a la diversidad de la flota de emergencia.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57200" y="5074920"/>
            <a:ext cx="73152" cy="100584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Tres pilares clave: Reducir costos, digitalizar el flujo y apoyar al bombero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4 de 14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57200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Reducción de Tiempos y Costos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Optimizar el presupuesto institucional al prever mantenciones periódicas antes de que ocurra una avería catastrófica.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Minimizar los tiempos fuera de servicio (tiempos muertos) de los vehículos prioritarios.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Evitar el sobrediagnóstico y gastos innecesarios mediante controles técnicos inmutables.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0F8C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352544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Formalización del Circuito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Digitalizar por completo el circuito de reporte de fallas, ofreciendo un flujo de escalamiento formalizado.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Proveer a los oficiales a cargo un panel de control con el estado real y las fallas registradas por los voluntarios.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Eliminar la pérdida de información del flujo informal tradicional.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352544" y="1645920"/>
            <a:ext cx="73152" cy="4389120"/>
          </a:xfrm>
          <a:prstGeom prst="rect">
            <a:avLst/>
          </a:prstGeom>
          <a:solidFill>
            <a:srgbClr val="1E6E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247888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Soporte al Voluntariado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Facilitar el reporte rápido desde terreno mediante una aplicación móvil optimizada y de diseño responsive.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Garantizar la seguridad de los bomberos que operan las unidades de emergencia.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Apoyar la toma de decisiones críticas durante las llamadas de emergencia.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247888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PROCESO DE NEGOCIO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Flujo de trabajo digitalizado para el reporte y control de fallas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94360" y="1737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Flujo 1: Reporte y Coordinación Manual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336792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473952" y="1737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Flujo 2: Sistema Digitalizado y Automatización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336792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5 de 14</a:t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9" y="2194560"/>
            <a:ext cx="5166725" cy="363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672" y="2194560"/>
            <a:ext cx="4936324" cy="3538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Una aplicación integrada para la consulta y alertas automáticas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6 de 14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720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Plataforma Centralizada de Mantención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La aplicación web y móvil centraliza y estandariza todo el registro del estado físico de las unidades de emergencia: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Consulta Inmediata: Estado de disponibilidad operativa de cualquier vehículo accesible desde cualquier lugar.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Notificaciones Preventivas: Alertas oportunas automáticas de mantenciones próximas a vencer o ya vencidas.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Registro Estructurado: Consistencia total y digital de cada acción de mantenimiento realizada en la compañía.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Valor y Trazabilidad de Ciclo de Vida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Trazabilidad Histórica Completa: Historial de fallas y reparaciones útil para conocer el verdadero 'Ciclo de vida' del vehículo de emergencia.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Canal de Escalamiento Formal: Sustitución definitiva de los circuitos informales que provocaban retrasos y pérdida de datos clave.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Roles de Gestión Multi-perfil: Voluntarios reportan fallas en terreno, mientras los oficiales de flota gestionan costos, aprueban reparaciones y cierran solicitudes.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0F8C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Seis módulos funcionales garantizan el control operativo integral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7 de 14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1645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Ficha del Vehículo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Ficha técnica detallada, historial completo de vida e identificación única de cada máquina.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352544" y="1645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Registro y control de mantenciones preventivas planificadas y reparaciones reactivas por fallas.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247888" y="1645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Alertas y Notificaciones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Alertas automáticas visuales cuando una fecha de mantenimiento preventivo esté por expirar.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57200" y="3931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Consulta Remota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Acceso responsive optimizado desde dispositivos móviles para que los bomberos verifiquen estado en terreno.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352544" y="3931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Reportes de Costos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Reportería básica de gastos históricos de reparación y consolidado de inversiones por máquina.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247888" y="393192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Asignación de perfiles (Administrador, Oficial de Flota, Bombero Voluntario) con permisos segmentados.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LIMITACIONES DE DISEÑO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Exclusiones de diseño: El sistema se enfoca 100% en la flota física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8 de 14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5720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Límites Administrativos e Institucionales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Para asegurar la viabilidad del proyecto de capstone y la entrega ágil en los plazos previstos, se han delimitado los siguientes alcances: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Gestión de Personal / Dotación: El sistema no gestionará las hojas de vida, asistencias ni roles de los voluntarios de bomberos.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Módulo Financiero Integrado: No pretende ser un sistema contable o de facturación institucional completo de bomberos.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Límites Operativos y de Despacho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Sistema de Despacho (Viper): La aplicación no interactúa, reemplaza ni se integra con el software actual de despacho de emergencias.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Gestión de Recursos Externos: No se contempla el control de inventario de otros recursos institucionales como uniformes, herramientas de rescate, material menor o equipamiento edilicio, limitándose estrictamente a los vehículos.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Diseño relacional para la persistencia y auditoría de la flota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1645920"/>
            <a:ext cx="11274552" cy="45902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94360" y="1737360"/>
            <a:ext cx="11000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Esquema de Base de Datos Relacional (PostgreSQL)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9 de 14</a:t>
            </a:r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4258" y="2103120"/>
            <a:ext cx="8063484" cy="3986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PLANIFICACIÓN DEL PROYECTO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Estructura ágil en cuatro Sprints de desarrollo incremental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457200" y="6400800"/>
            <a:ext cx="11277295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SIMAVI                                                                                                                      Pág. 8 de 12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57200" y="1737360"/>
            <a:ext cx="1933303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45700" lIns="137150" spcFirstLastPara="1" rIns="1371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1E6EBE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br>
              <a:rPr b="1" lang="es-CL" sz="1400">
                <a:solidFill>
                  <a:srgbClr val="1E6E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1400">
                <a:solidFill>
                  <a:srgbClr val="1E6EBE"/>
                </a:solidFill>
                <a:latin typeface="Arial"/>
                <a:ea typeface="Arial"/>
                <a:cs typeface="Arial"/>
                <a:sym typeface="Arial"/>
              </a:rPr>
              <a:t>Configuración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1E6EBE"/>
                </a:solidFill>
                <a:latin typeface="Arial"/>
                <a:ea typeface="Arial"/>
                <a:cs typeface="Arial"/>
                <a:sym typeface="Arial"/>
              </a:rPr>
              <a:t>(S5-S6)</a:t>
            </a:r>
            <a:endParaRPr b="1" sz="1400">
              <a:solidFill>
                <a:srgbClr val="1E6E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Configuración base del entorno de desarrollo.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Diseño e inicialización de la base de datos PostgreSQL.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Ajuste de metodologías y herramientas (Git, ClickUp).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57200" y="1737360"/>
            <a:ext cx="1933303" cy="109728"/>
          </a:xfrm>
          <a:prstGeom prst="rect">
            <a:avLst/>
          </a:prstGeom>
          <a:solidFill>
            <a:srgbClr val="1E6E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612572" y="1737360"/>
            <a:ext cx="1933303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45700" lIns="137150" spcFirstLastPara="1" rIns="1371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br>
              <a:rPr b="1" lang="es-CL" sz="14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14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Flota &amp; Fallas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(S7-S9)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Gestión y Fichas de Vehículos.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Desarrollo del módulo digital para reporte de fallas.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Implementación del flujo básico de ingreso de fallas.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2612572" y="1737360"/>
            <a:ext cx="1933303" cy="109728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767944" y="1737360"/>
            <a:ext cx="1933303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45700" lIns="137150" spcFirstLastPara="1" rIns="1371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DC910A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br>
              <a:rPr b="1" lang="es-CL" sz="1400">
                <a:solidFill>
                  <a:srgbClr val="DC91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1400">
                <a:solidFill>
                  <a:srgbClr val="DC910A"/>
                </a:solidFill>
                <a:latin typeface="Arial"/>
                <a:ea typeface="Arial"/>
                <a:cs typeface="Arial"/>
                <a:sym typeface="Arial"/>
              </a:rPr>
              <a:t>Mantención &amp; Alertas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DC910A"/>
                </a:solidFill>
                <a:latin typeface="Arial"/>
                <a:ea typeface="Arial"/>
                <a:cs typeface="Arial"/>
                <a:sym typeface="Arial"/>
              </a:rPr>
              <a:t>(S10-S12)</a:t>
            </a:r>
            <a:endParaRPr b="1" sz="1400">
              <a:solidFill>
                <a:srgbClr val="DC91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Módulo de registro de órdenes de mantención.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Implementación de alertas preventivas.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Desarrollo de notificaciones automáticas.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767944" y="1737360"/>
            <a:ext cx="1933303" cy="109728"/>
          </a:xfrm>
          <a:prstGeom prst="rect">
            <a:avLst/>
          </a:prstGeom>
          <a:solidFill>
            <a:srgbClr val="DC91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065625" y="1737360"/>
            <a:ext cx="1933303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45700" lIns="137150" spcFirstLastPara="1" rIns="1371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F8C4B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br>
              <a:rPr b="1" lang="es-CL" sz="1400">
                <a:solidFill>
                  <a:srgbClr val="0F8C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1400">
                <a:solidFill>
                  <a:srgbClr val="0F8C4B"/>
                </a:solidFill>
                <a:latin typeface="Arial"/>
                <a:ea typeface="Arial"/>
                <a:cs typeface="Arial"/>
                <a:sym typeface="Arial"/>
              </a:rPr>
              <a:t>Costos &amp; Seguridad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F8C4B"/>
                </a:solidFill>
                <a:latin typeface="Arial"/>
                <a:ea typeface="Arial"/>
                <a:cs typeface="Arial"/>
                <a:sym typeface="Arial"/>
              </a:rPr>
              <a:t>(S16-S17)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Ultimas pruebas de validación.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Defensa del proyecto.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Levantamiento e implementación del proyecto.</a:t>
            </a:r>
            <a:endParaRPr sz="10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065625" y="1737360"/>
            <a:ext cx="1933303" cy="109728"/>
          </a:xfrm>
          <a:prstGeom prst="rect">
            <a:avLst/>
          </a:prstGeom>
          <a:solidFill>
            <a:srgbClr val="0F8C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923316" y="1719072"/>
            <a:ext cx="1933303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45700" lIns="137150" spcFirstLastPara="1" rIns="1371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br>
              <a:rPr b="1" lang="es-CL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Costos &amp; Seguridad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(S13-S15)</a:t>
            </a:r>
            <a:endParaRPr b="1" sz="14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Módulo de reportería de costos históricos.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Gestión de usuarios con roles y seguridad.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Pruebas de integración, QA y despliegue final.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923316" y="1719072"/>
            <a:ext cx="1933303" cy="109728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highlight>
                <a:srgbClr val="00008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Tecnologías robustas aseguran alta disponibilidad y escalabilidad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11 de 14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457200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Frontend (Interfaz)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Componentes interactivos y modulares que agilizan el desarrollo.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Diseño Responsive para garantizar usabilidad en smartphones dentro de carros de emergencia.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Alta velocidad de renderizado en el navegador web.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1E6E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352544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Backend y Base de Datos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API REST rápida y eficiente para el intercambio de datos entre cliente y servidor.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Base de datos relacional robusta que garantiza consistencia para auditorías de mantenimiento.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Almacenamiento seguro de órdenes de trabajo, alertas e históricos de costo.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352544" y="1645920"/>
            <a:ext cx="73152" cy="4389120"/>
          </a:xfrm>
          <a:prstGeom prst="rect">
            <a:avLst/>
          </a:prstGeom>
          <a:solidFill>
            <a:srgbClr val="DC91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8247888" y="1645920"/>
            <a:ext cx="34747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Entorno e Infraestructura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Alojamiento en la nube para garantizar una disponibilidad continua del 99.9%.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Control de versiones colaborativo y repositorio oficial del código de capstone.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Gestión visual del Scrum backlog e historias de usuario asignadas.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8247888" y="1645920"/>
            <a:ext cx="73152" cy="4389120"/>
          </a:xfrm>
          <a:prstGeom prst="rect">
            <a:avLst/>
          </a:prstGeom>
          <a:solidFill>
            <a:srgbClr val="0F8C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Historias de usuario estructuradas traducen la necesidad en código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12 de 14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45720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Gestión del Product Backlog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17 Historias de Usuario documentadas y monitoreadas en la herramienta Trello para garantizar el avance del proyecto.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Estructura ágil basada en Epics y HU priorizadas para asegurar un flujo de valor constante.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• Cada historia de usuario cuenta con un dueño asignado, Story Points para control del esfuerzo y Criterios de Aceptación robustos.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El backlog está estructurado para abordar primero las necesidades críticas de visualización de flota antes de pasar a la reportería contable básica.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1E6E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dir="5400000" dist="20000">
              <a:srgbClr val="000000">
                <a:alpha val="25098"/>
              </a:srgbClr>
            </a:outerShdw>
          </a:effectLst>
        </p:spPr>
        <p:txBody>
          <a:bodyPr anchorCtr="0" anchor="ctr" bIns="182875" lIns="228600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Caso de Estudio: EP01 - HU01 (Flota)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Historia de Usuario: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"Como bombero operativo, quiero ver la lista de vehículos de mi compañía con su estado actual, para saber rápidamente cuáles están disponibles."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Criterios de Aceptación definidos: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1. Autenticación exitosa y acceso inmediato a sección 'Vehículos'.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2. Lista estructurada con: Código, Tipo de máquina y Estado (Operativo / No Operativo / Mantención Próxima).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3. Si la unidad tiene una falla activa, su estado DEBE mostrarse en color rojo.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1C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1C24"/>
                </a:solidFill>
                <a:latin typeface="Calibri"/>
                <a:ea typeface="Calibri"/>
                <a:cs typeface="Calibri"/>
                <a:sym typeface="Calibri"/>
              </a:rPr>
              <a:t>Prioridad: Alta  |  Story Points: 3  |  Mapeado en Sprint 1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EVIDENCIAS DEL PROTOTIPO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rgbClr val="181C24"/>
                </a:solidFill>
                <a:latin typeface="Arial"/>
                <a:ea typeface="Arial"/>
                <a:cs typeface="Arial"/>
                <a:sym typeface="Arial"/>
              </a:rPr>
              <a:t>El prototipo valida el estado en tiempo real y costos por $4.97M</a:t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Primera Compañía de Bomberos de Maipú  |  Sistema de Gestión de Mantención  |  SIMAVI                                                                                                                      Pág. 13 de 14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45720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1. Dashboard de Control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31800" y="1940560"/>
            <a:ext cx="3205480" cy="194360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1_prototipov1_web.png"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65960"/>
            <a:ext cx="3154680" cy="18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2580640" y="2763520"/>
            <a:ext cx="1193800" cy="208076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1_prototipov1_movil.png" id="252" name="Google Shape;2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6040" y="2788920"/>
            <a:ext cx="1143000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457200" y="4983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546073"/>
                </a:solidFill>
                <a:latin typeface="Calibri"/>
                <a:ea typeface="Calibri"/>
                <a:cs typeface="Calibri"/>
                <a:sym typeface="Calibri"/>
              </a:rPr>
              <a:t>Estado en tiempo real y KPI de disponibilidad.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4352544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2. Ficha y Hoja de Vida</a:t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327144" y="1940560"/>
            <a:ext cx="3205480" cy="194360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2_prototipov1_web.png" id="256" name="Google Shape;2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44" y="1965960"/>
            <a:ext cx="3154680" cy="18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/>
          <p:nvPr/>
        </p:nvSpPr>
        <p:spPr>
          <a:xfrm>
            <a:off x="6475984" y="2763520"/>
            <a:ext cx="1193800" cy="208076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2_prototipov1_movil.png" id="258" name="Google Shape;25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1384" y="2788920"/>
            <a:ext cx="1143000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4352544" y="4983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546073"/>
                </a:solidFill>
                <a:latin typeface="Calibri"/>
                <a:ea typeface="Calibri"/>
                <a:cs typeface="Calibri"/>
                <a:sym typeface="Calibri"/>
              </a:rPr>
              <a:t>Historial clínico de la máquina B-1.</a:t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8247888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3. Alertas y Reportes</a:t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222488" y="1940560"/>
            <a:ext cx="3205480" cy="194360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3_prototipov1_web.png" id="262" name="Google Shape;26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7888" y="1965960"/>
            <a:ext cx="3154680" cy="18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/>
          <p:nvPr/>
        </p:nvSpPr>
        <p:spPr>
          <a:xfrm>
            <a:off x="10371328" y="2763520"/>
            <a:ext cx="1193800" cy="208076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AE0E9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dir="5400000" dist="15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idencia3_prototipov1_movil.png" id="264" name="Google Shape;26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96728" y="2788920"/>
            <a:ext cx="1143000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/>
        </p:nvSpPr>
        <p:spPr>
          <a:xfrm>
            <a:off x="8247888" y="4983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546073"/>
                </a:solidFill>
                <a:latin typeface="Calibri"/>
                <a:ea typeface="Calibri"/>
                <a:cs typeface="Calibri"/>
                <a:sym typeface="Calibri"/>
              </a:rPr>
              <a:t>Notificaciones de mantenimientos vencidos.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0A0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rgbClr val="C00A0A"/>
                </a:solidFill>
                <a:latin typeface="Arial"/>
                <a:ea typeface="Arial"/>
                <a:cs typeface="Arial"/>
                <a:sym typeface="Arial"/>
              </a:rPr>
              <a:t>HACIA UNA FLOTA 100% OPERATIVA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rgbClr val="F5F6F8"/>
                </a:solidFill>
                <a:latin typeface="Arial"/>
                <a:ea typeface="Arial"/>
                <a:cs typeface="Arial"/>
                <a:sym typeface="Arial"/>
              </a:rPr>
              <a:t>Control Inteligente para Salvar Vidas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6E7882"/>
                </a:solidFill>
                <a:latin typeface="Calibri"/>
                <a:ea typeface="Calibri"/>
                <a:cs typeface="Calibri"/>
                <a:sym typeface="Calibri"/>
              </a:rPr>
              <a:t>Garantizar la disponibilidad de los vehículos es asegurar el tiempo de respuesta frente a emergencias.</a:t>
            </a:r>
            <a:endParaRPr/>
          </a:p>
          <a:p>
            <a:pPr indent="0" lvl="0" marL="0" marR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5F6F8"/>
                </a:solidFill>
                <a:latin typeface="Arial"/>
                <a:ea typeface="Arial"/>
                <a:cs typeface="Arial"/>
                <a:sym typeface="Arial"/>
              </a:rPr>
              <a:t>¡Muchas Gracias!  |  Sección de 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